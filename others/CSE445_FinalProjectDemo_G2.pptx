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TT Norms Bold" charset="1" panose="02000803030000020004"/>
      <p:regular r:id="rId15"/>
    </p:embeddedFont>
    <p:embeddedFont>
      <p:font typeface="TT Norms" charset="1" panose="020005030300000200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jpe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true" flipV="false" rot="-9013900">
            <a:off x="15042323" y="-1761366"/>
            <a:ext cx="6704769" cy="5449148"/>
          </a:xfrm>
          <a:custGeom>
            <a:avLst/>
            <a:gdLst/>
            <a:ahLst/>
            <a:cxnLst/>
            <a:rect r="r" b="b" t="t" l="l"/>
            <a:pathLst>
              <a:path h="5449148" w="6704769">
                <a:moveTo>
                  <a:pt x="6704769" y="0"/>
                </a:moveTo>
                <a:lnTo>
                  <a:pt x="0" y="0"/>
                </a:lnTo>
                <a:lnTo>
                  <a:pt x="0" y="5449149"/>
                </a:lnTo>
                <a:lnTo>
                  <a:pt x="6704769" y="5449149"/>
                </a:lnTo>
                <a:lnTo>
                  <a:pt x="670476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417436">
            <a:off x="-2730966" y="7614050"/>
            <a:ext cx="6704769" cy="5449148"/>
          </a:xfrm>
          <a:custGeom>
            <a:avLst/>
            <a:gdLst/>
            <a:ahLst/>
            <a:cxnLst/>
            <a:rect r="r" b="b" t="t" l="l"/>
            <a:pathLst>
              <a:path h="5449148" w="6704769">
                <a:moveTo>
                  <a:pt x="6704769" y="0"/>
                </a:moveTo>
                <a:lnTo>
                  <a:pt x="0" y="0"/>
                </a:lnTo>
                <a:lnTo>
                  <a:pt x="0" y="5449149"/>
                </a:lnTo>
                <a:lnTo>
                  <a:pt x="6704769" y="5449149"/>
                </a:lnTo>
                <a:lnTo>
                  <a:pt x="670476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658781" y="4048666"/>
            <a:ext cx="12970438" cy="4216399"/>
          </a:xfrm>
          <a:prstGeom prst="rect">
            <a:avLst/>
          </a:prstGeom>
        </p:spPr>
        <p:txBody>
          <a:bodyPr anchor="t" rtlCol="false" tIns="0" lIns="0" bIns="0" rIns="0">
            <a:spAutoFit/>
          </a:bodyPr>
          <a:lstStyle/>
          <a:p>
            <a:pPr algn="ctr">
              <a:lnSpc>
                <a:spcPts val="11200"/>
              </a:lnSpc>
            </a:pPr>
            <a:r>
              <a:rPr lang="en-US" sz="8000" b="true">
                <a:solidFill>
                  <a:srgbClr val="FFFFFF"/>
                </a:solidFill>
                <a:latin typeface="TT Norms Bold"/>
                <a:ea typeface="TT Norms Bold"/>
                <a:cs typeface="TT Norms Bold"/>
                <a:sym typeface="TT Norms Bold"/>
              </a:rPr>
              <a:t>Nuclei Segmentation Using U-Net Architecture</a:t>
            </a:r>
          </a:p>
          <a:p>
            <a:pPr algn="ctr">
              <a:lnSpc>
                <a:spcPts val="11200"/>
              </a:lnSpc>
            </a:pPr>
          </a:p>
        </p:txBody>
      </p:sp>
      <p:sp>
        <p:nvSpPr>
          <p:cNvPr name="TextBox 6" id="6"/>
          <p:cNvSpPr txBox="true"/>
          <p:nvPr/>
        </p:nvSpPr>
        <p:spPr>
          <a:xfrm rot="0">
            <a:off x="1066579" y="7146925"/>
            <a:ext cx="4958699" cy="2111375"/>
          </a:xfrm>
          <a:prstGeom prst="rect">
            <a:avLst/>
          </a:prstGeom>
        </p:spPr>
        <p:txBody>
          <a:bodyPr anchor="t" rtlCol="false" tIns="0" lIns="0" bIns="0" rIns="0">
            <a:spAutoFit/>
          </a:bodyPr>
          <a:lstStyle/>
          <a:p>
            <a:pPr algn="just">
              <a:lnSpc>
                <a:spcPts val="2800"/>
              </a:lnSpc>
            </a:pPr>
          </a:p>
          <a:p>
            <a:pPr algn="just">
              <a:lnSpc>
                <a:spcPts val="2800"/>
              </a:lnSpc>
            </a:pPr>
            <a:r>
              <a:rPr lang="en-US" sz="2000">
                <a:solidFill>
                  <a:srgbClr val="FFFFFF"/>
                </a:solidFill>
                <a:latin typeface="TT Norms"/>
                <a:ea typeface="TT Norms"/>
                <a:cs typeface="TT Norms"/>
                <a:sym typeface="TT Norms"/>
              </a:rPr>
              <a:t>PRESENTED BY:  GROUP-2                                                                           </a:t>
            </a:r>
          </a:p>
          <a:p>
            <a:pPr algn="just">
              <a:lnSpc>
                <a:spcPts val="2800"/>
              </a:lnSpc>
            </a:pPr>
            <a:r>
              <a:rPr lang="en-US" sz="2000">
                <a:solidFill>
                  <a:srgbClr val="FFFFFF"/>
                </a:solidFill>
                <a:latin typeface="TT Norms"/>
                <a:ea typeface="TT Norms"/>
                <a:cs typeface="TT Norms"/>
                <a:sym typeface="TT Norms"/>
              </a:rPr>
              <a:t>NAHID SARWAR RATUL 2212790042</a:t>
            </a:r>
          </a:p>
          <a:p>
            <a:pPr algn="just">
              <a:lnSpc>
                <a:spcPts val="2800"/>
              </a:lnSpc>
            </a:pPr>
            <a:r>
              <a:rPr lang="en-US" sz="2000">
                <a:solidFill>
                  <a:srgbClr val="FFFFFF"/>
                </a:solidFill>
                <a:latin typeface="TT Norms"/>
                <a:ea typeface="TT Norms"/>
                <a:cs typeface="TT Norms"/>
                <a:sym typeface="TT Norms"/>
              </a:rPr>
              <a:t>MUHAMMAD BIN MAMUN 2222953042</a:t>
            </a:r>
          </a:p>
          <a:p>
            <a:pPr algn="just">
              <a:lnSpc>
                <a:spcPts val="2800"/>
              </a:lnSpc>
              <a:spcBef>
                <a:spcPct val="0"/>
              </a:spcBef>
            </a:pPr>
            <a:r>
              <a:rPr lang="en-US" sz="2000">
                <a:solidFill>
                  <a:srgbClr val="FFFFFF"/>
                </a:solidFill>
                <a:latin typeface="TT Norms"/>
                <a:ea typeface="TT Norms"/>
                <a:cs typeface="TT Norms"/>
                <a:sym typeface="TT Norms"/>
              </a:rPr>
              <a:t>EKFAT JAHAN ASHRAFY 2132236642</a:t>
            </a:r>
          </a:p>
          <a:p>
            <a:pPr algn="just">
              <a:lnSpc>
                <a:spcPts val="2800"/>
              </a:lnSpc>
              <a:spcBef>
                <a:spcPct val="0"/>
              </a:spcBef>
            </a:pPr>
          </a:p>
        </p:txBody>
      </p:sp>
      <p:sp>
        <p:nvSpPr>
          <p:cNvPr name="TextBox 7" id="7"/>
          <p:cNvSpPr txBox="true"/>
          <p:nvPr/>
        </p:nvSpPr>
        <p:spPr>
          <a:xfrm rot="0">
            <a:off x="12300601" y="7499350"/>
            <a:ext cx="4958699" cy="1406525"/>
          </a:xfrm>
          <a:prstGeom prst="rect">
            <a:avLst/>
          </a:prstGeom>
        </p:spPr>
        <p:txBody>
          <a:bodyPr anchor="t" rtlCol="false" tIns="0" lIns="0" bIns="0" rIns="0">
            <a:spAutoFit/>
          </a:bodyPr>
          <a:lstStyle/>
          <a:p>
            <a:pPr algn="just">
              <a:lnSpc>
                <a:spcPts val="2800"/>
              </a:lnSpc>
            </a:pPr>
            <a:r>
              <a:rPr lang="en-US" sz="2000">
                <a:solidFill>
                  <a:srgbClr val="FFFFFF"/>
                </a:solidFill>
                <a:latin typeface="TT Norms"/>
                <a:ea typeface="TT Norms"/>
                <a:cs typeface="TT Norms"/>
                <a:sym typeface="TT Norms"/>
              </a:rPr>
              <a:t>COURSE CODE:  CSE445                                                                           </a:t>
            </a:r>
          </a:p>
          <a:p>
            <a:pPr algn="just">
              <a:lnSpc>
                <a:spcPts val="2800"/>
              </a:lnSpc>
            </a:pPr>
            <a:r>
              <a:rPr lang="en-US" sz="2000">
                <a:solidFill>
                  <a:srgbClr val="FFFFFF"/>
                </a:solidFill>
                <a:latin typeface="TT Norms"/>
                <a:ea typeface="TT Norms"/>
                <a:cs typeface="TT Norms"/>
                <a:sym typeface="TT Norms"/>
              </a:rPr>
              <a:t>SECTION: 05</a:t>
            </a:r>
          </a:p>
          <a:p>
            <a:pPr algn="just">
              <a:lnSpc>
                <a:spcPts val="2800"/>
              </a:lnSpc>
              <a:spcBef>
                <a:spcPct val="0"/>
              </a:spcBef>
            </a:pPr>
            <a:r>
              <a:rPr lang="en-US" sz="2000">
                <a:solidFill>
                  <a:srgbClr val="FFFFFF"/>
                </a:solidFill>
                <a:latin typeface="TT Norms"/>
                <a:ea typeface="TT Norms"/>
                <a:cs typeface="TT Norms"/>
                <a:sym typeface="TT Norms"/>
              </a:rPr>
              <a:t>FACULTY: MSRB</a:t>
            </a:r>
          </a:p>
          <a:p>
            <a:pPr algn="just">
              <a:lnSpc>
                <a:spcPts val="2800"/>
              </a:lnSpc>
              <a:spcBef>
                <a:spcPct val="0"/>
              </a:spcBef>
            </a:pPr>
          </a:p>
        </p:txBody>
      </p:sp>
      <p:sp>
        <p:nvSpPr>
          <p:cNvPr name="TextBox 8" id="8"/>
          <p:cNvSpPr txBox="true"/>
          <p:nvPr/>
        </p:nvSpPr>
        <p:spPr>
          <a:xfrm rot="0">
            <a:off x="2555675" y="2261807"/>
            <a:ext cx="12970438" cy="1533531"/>
          </a:xfrm>
          <a:prstGeom prst="rect">
            <a:avLst/>
          </a:prstGeom>
        </p:spPr>
        <p:txBody>
          <a:bodyPr anchor="t" rtlCol="false" tIns="0" lIns="0" bIns="0" rIns="0">
            <a:spAutoFit/>
          </a:bodyPr>
          <a:lstStyle/>
          <a:p>
            <a:pPr algn="ctr">
              <a:lnSpc>
                <a:spcPts val="12599"/>
              </a:lnSpc>
            </a:pPr>
            <a:r>
              <a:rPr lang="en-US" sz="8999" b="true">
                <a:solidFill>
                  <a:srgbClr val="FFFFFF"/>
                </a:solidFill>
                <a:latin typeface="TT Norms Bold"/>
                <a:ea typeface="TT Norms Bold"/>
                <a:cs typeface="TT Norms Bold"/>
                <a:sym typeface="TT Norms Bold"/>
              </a:rPr>
              <a:t>Final Project Demo</a:t>
            </a:r>
          </a:p>
        </p:txBody>
      </p:sp>
      <p:grpSp>
        <p:nvGrpSpPr>
          <p:cNvPr name="Group 9" id="9"/>
          <p:cNvGrpSpPr/>
          <p:nvPr/>
        </p:nvGrpSpPr>
        <p:grpSpPr>
          <a:xfrm rot="0">
            <a:off x="1513140" y="1028700"/>
            <a:ext cx="15055508" cy="723427"/>
            <a:chOff x="0" y="0"/>
            <a:chExt cx="20074010" cy="964570"/>
          </a:xfrm>
        </p:grpSpPr>
        <p:sp>
          <p:nvSpPr>
            <p:cNvPr name="AutoShape 10" id="10"/>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1" id="11"/>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HOME</a:t>
              </a:r>
            </a:p>
          </p:txBody>
        </p:sp>
        <p:sp>
          <p:nvSpPr>
            <p:cNvPr name="TextBox 12" id="12"/>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13" id="13"/>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4" id="14"/>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5" id="15"/>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6" id="16"/>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17" id="17"/>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677948" y="2125645"/>
            <a:ext cx="5154435" cy="5313851"/>
          </a:xfrm>
          <a:custGeom>
            <a:avLst/>
            <a:gdLst/>
            <a:ahLst/>
            <a:cxnLst/>
            <a:rect r="r" b="b" t="t" l="l"/>
            <a:pathLst>
              <a:path h="5313851" w="5154435">
                <a:moveTo>
                  <a:pt x="0" y="0"/>
                </a:moveTo>
                <a:lnTo>
                  <a:pt x="5154436" y="0"/>
                </a:lnTo>
                <a:lnTo>
                  <a:pt x="5154436" y="5313851"/>
                </a:lnTo>
                <a:lnTo>
                  <a:pt x="0" y="5313851"/>
                </a:lnTo>
                <a:lnTo>
                  <a:pt x="0" y="0"/>
                </a:lnTo>
                <a:close/>
              </a:path>
            </a:pathLst>
          </a:custGeom>
          <a:blipFill>
            <a:blip r:embed="rId5"/>
            <a:stretch>
              <a:fillRect l="0" t="0" r="0" b="0"/>
            </a:stretch>
          </a:blipFill>
        </p:spPr>
      </p:sp>
      <p:sp>
        <p:nvSpPr>
          <p:cNvPr name="Freeform 6" id="6"/>
          <p:cNvSpPr/>
          <p:nvPr/>
        </p:nvSpPr>
        <p:spPr>
          <a:xfrm flipH="false" flipV="false" rot="0">
            <a:off x="1135189" y="2125645"/>
            <a:ext cx="7647033" cy="5313851"/>
          </a:xfrm>
          <a:custGeom>
            <a:avLst/>
            <a:gdLst/>
            <a:ahLst/>
            <a:cxnLst/>
            <a:rect r="r" b="b" t="t" l="l"/>
            <a:pathLst>
              <a:path h="5313851" w="7647033">
                <a:moveTo>
                  <a:pt x="0" y="0"/>
                </a:moveTo>
                <a:lnTo>
                  <a:pt x="7647033" y="0"/>
                </a:lnTo>
                <a:lnTo>
                  <a:pt x="7647033" y="5313851"/>
                </a:lnTo>
                <a:lnTo>
                  <a:pt x="0" y="5313851"/>
                </a:lnTo>
                <a:lnTo>
                  <a:pt x="0" y="0"/>
                </a:lnTo>
                <a:close/>
              </a:path>
            </a:pathLst>
          </a:custGeom>
          <a:blipFill>
            <a:blip r:embed="rId6"/>
            <a:stretch>
              <a:fillRect l="0" t="0" r="0" b="0"/>
            </a:stretch>
          </a:blipFill>
        </p:spPr>
      </p:sp>
      <p:grpSp>
        <p:nvGrpSpPr>
          <p:cNvPr name="Group 7" id="7"/>
          <p:cNvGrpSpPr/>
          <p:nvPr/>
        </p:nvGrpSpPr>
        <p:grpSpPr>
          <a:xfrm rot="0">
            <a:off x="0" y="9536329"/>
            <a:ext cx="18288000" cy="1043940"/>
            <a:chOff x="0" y="0"/>
            <a:chExt cx="24384000" cy="1391920"/>
          </a:xfrm>
        </p:grpSpPr>
        <p:sp>
          <p:nvSpPr>
            <p:cNvPr name="TextBox 8" id="8"/>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9" id="9"/>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10" id="10"/>
          <p:cNvSpPr txBox="true"/>
          <p:nvPr/>
        </p:nvSpPr>
        <p:spPr>
          <a:xfrm rot="0">
            <a:off x="9403282" y="7617464"/>
            <a:ext cx="7703768" cy="1406525"/>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THE IMAGE ILLUSTRATES HOW THE NUCLEUS OF A MALIGNANT CELL UNDERGOES CHANGES THROUGH THE DIFFERENT PH</a:t>
            </a:r>
            <a:r>
              <a:rPr lang="en-US" sz="2000">
                <a:solidFill>
                  <a:srgbClr val="FFFFFF"/>
                </a:solidFill>
                <a:latin typeface="TT Norms"/>
                <a:ea typeface="TT Norms"/>
                <a:cs typeface="TT Norms"/>
                <a:sym typeface="TT Norms"/>
              </a:rPr>
              <a:t>ASES OF MITOSIS, HIGHLIGHTING THE PROGRESSION OF CELL DIVISION IN CANCEROUS CELLS.</a:t>
            </a:r>
          </a:p>
        </p:txBody>
      </p:sp>
      <p:sp>
        <p:nvSpPr>
          <p:cNvPr name="TextBox 11" id="11"/>
          <p:cNvSpPr txBox="true"/>
          <p:nvPr/>
        </p:nvSpPr>
        <p:spPr>
          <a:xfrm rot="0">
            <a:off x="1106822" y="7617464"/>
            <a:ext cx="7703768" cy="105410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IDENTIFICATION OF DIFFERENT CELL TYPES (EPITHELIAL, FIBROBLAST, INFLAMMATORY, ETC.) B</a:t>
            </a:r>
            <a:r>
              <a:rPr lang="en-US" sz="2000">
                <a:solidFill>
                  <a:srgbClr val="FFFFFF"/>
                </a:solidFill>
                <a:latin typeface="TT Norms"/>
                <a:ea typeface="TT Norms"/>
                <a:cs typeface="TT Norms"/>
                <a:sym typeface="TT Norms"/>
              </a:rPr>
              <a:t>ASED ON THE CHARACTERISTICS OF THEIR NUCLEI.</a:t>
            </a:r>
          </a:p>
        </p:txBody>
      </p:sp>
      <p:grpSp>
        <p:nvGrpSpPr>
          <p:cNvPr name="Group 12" id="12"/>
          <p:cNvGrpSpPr/>
          <p:nvPr/>
        </p:nvGrpSpPr>
        <p:grpSpPr>
          <a:xfrm rot="0">
            <a:off x="1616246" y="1028700"/>
            <a:ext cx="15055508" cy="723427"/>
            <a:chOff x="0" y="0"/>
            <a:chExt cx="20074010" cy="964570"/>
          </a:xfrm>
        </p:grpSpPr>
        <p:sp>
          <p:nvSpPr>
            <p:cNvPr name="AutoShape 13" id="13"/>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4" id="14"/>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5" id="15"/>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U-NET</a:t>
              </a:r>
            </a:p>
          </p:txBody>
        </p:sp>
        <p:sp>
          <p:nvSpPr>
            <p:cNvPr name="TextBox 16" id="16"/>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7" id="17"/>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8" id="18"/>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9" id="19"/>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20" id="20"/>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TextBox 3" id="3"/>
          <p:cNvSpPr txBox="true"/>
          <p:nvPr/>
        </p:nvSpPr>
        <p:spPr>
          <a:xfrm rot="0">
            <a:off x="11053339" y="4883129"/>
            <a:ext cx="5494174" cy="3337560"/>
          </a:xfrm>
          <a:prstGeom prst="rect">
            <a:avLst/>
          </a:prstGeom>
        </p:spPr>
        <p:txBody>
          <a:bodyPr anchor="t" rtlCol="false" tIns="0" lIns="0" bIns="0" rIns="0">
            <a:spAutoFit/>
          </a:bodyPr>
          <a:lstStyle/>
          <a:p>
            <a:pPr algn="just">
              <a:lnSpc>
                <a:spcPts val="2940"/>
              </a:lnSpc>
            </a:pPr>
            <a:r>
              <a:rPr lang="en-US" sz="2100">
                <a:solidFill>
                  <a:srgbClr val="FFFFFF"/>
                </a:solidFill>
                <a:latin typeface="TT Norms"/>
                <a:ea typeface="TT Norms"/>
                <a:cs typeface="TT Norms"/>
                <a:sym typeface="TT Norms"/>
              </a:rPr>
              <a:t>The advantage of using the U-Net architecture in this project lies in its ability to perform precise pixel-wise segmentation. The skip connections help retain fine spatial details, which is crucial for accurately segmenting small and complex structures like cell nuclei in medical images. This made the task of segmenting different cell types more efficient and reliable.</a:t>
            </a:r>
          </a:p>
        </p:txBody>
      </p:sp>
      <p:sp>
        <p:nvSpPr>
          <p:cNvPr name="Freeform 4" id="4"/>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892380" y="2582100"/>
            <a:ext cx="8463173" cy="5638589"/>
          </a:xfrm>
          <a:custGeom>
            <a:avLst/>
            <a:gdLst/>
            <a:ahLst/>
            <a:cxnLst/>
            <a:rect r="r" b="b" t="t" l="l"/>
            <a:pathLst>
              <a:path h="5638589" w="8463173">
                <a:moveTo>
                  <a:pt x="0" y="0"/>
                </a:moveTo>
                <a:lnTo>
                  <a:pt x="8463173" y="0"/>
                </a:lnTo>
                <a:lnTo>
                  <a:pt x="8463173" y="5638589"/>
                </a:lnTo>
                <a:lnTo>
                  <a:pt x="0" y="5638589"/>
                </a:lnTo>
                <a:lnTo>
                  <a:pt x="0" y="0"/>
                </a:lnTo>
                <a:close/>
              </a:path>
            </a:pathLst>
          </a:custGeom>
          <a:blipFill>
            <a:blip r:embed="rId5"/>
            <a:stretch>
              <a:fillRect l="0" t="0" r="0" b="0"/>
            </a:stretch>
          </a:blipFill>
        </p:spPr>
      </p:sp>
      <p:sp>
        <p:nvSpPr>
          <p:cNvPr name="TextBox 7" id="7"/>
          <p:cNvSpPr txBox="true"/>
          <p:nvPr/>
        </p:nvSpPr>
        <p:spPr>
          <a:xfrm rot="0">
            <a:off x="11060973" y="2534475"/>
            <a:ext cx="5494174" cy="1851660"/>
          </a:xfrm>
          <a:prstGeom prst="rect">
            <a:avLst/>
          </a:prstGeom>
        </p:spPr>
        <p:txBody>
          <a:bodyPr anchor="t" rtlCol="false" tIns="0" lIns="0" bIns="0" rIns="0">
            <a:spAutoFit/>
          </a:bodyPr>
          <a:lstStyle/>
          <a:p>
            <a:pPr algn="just">
              <a:lnSpc>
                <a:spcPts val="2940"/>
              </a:lnSpc>
            </a:pPr>
            <a:r>
              <a:rPr lang="en-US" sz="2100">
                <a:solidFill>
                  <a:srgbClr val="FFFFFF"/>
                </a:solidFill>
                <a:latin typeface="TT Norms"/>
                <a:ea typeface="TT Norms"/>
                <a:cs typeface="TT Norms"/>
                <a:sym typeface="TT Norms"/>
              </a:rPr>
              <a:t>U-Net is an encoder-decoder architecture designed for image segmentation, with skip connections that help retain spatial information for precise segmentation, especially in small structures like cell nuclei.</a:t>
            </a:r>
          </a:p>
        </p:txBody>
      </p:sp>
      <p:grpSp>
        <p:nvGrpSpPr>
          <p:cNvPr name="Group 8" id="8"/>
          <p:cNvGrpSpPr/>
          <p:nvPr/>
        </p:nvGrpSpPr>
        <p:grpSpPr>
          <a:xfrm rot="0">
            <a:off x="0" y="9536329"/>
            <a:ext cx="18288000" cy="1043940"/>
            <a:chOff x="0" y="0"/>
            <a:chExt cx="24384000" cy="1391920"/>
          </a:xfrm>
        </p:grpSpPr>
        <p:sp>
          <p:nvSpPr>
            <p:cNvPr name="TextBox 9" id="9"/>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10" id="10"/>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grpSp>
        <p:nvGrpSpPr>
          <p:cNvPr name="Group 11" id="11"/>
          <p:cNvGrpSpPr/>
          <p:nvPr/>
        </p:nvGrpSpPr>
        <p:grpSpPr>
          <a:xfrm rot="0">
            <a:off x="1616246" y="1028700"/>
            <a:ext cx="15055508" cy="723427"/>
            <a:chOff x="0" y="0"/>
            <a:chExt cx="20074010" cy="964570"/>
          </a:xfrm>
        </p:grpSpPr>
        <p:sp>
          <p:nvSpPr>
            <p:cNvPr name="AutoShape 12" id="12"/>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3" id="13"/>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4" id="14"/>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U-NET</a:t>
              </a:r>
            </a:p>
          </p:txBody>
        </p:sp>
        <p:sp>
          <p:nvSpPr>
            <p:cNvPr name="TextBox 15" id="15"/>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6" id="16"/>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7" id="17"/>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RESULTS</a:t>
              </a:r>
            </a:p>
          </p:txBody>
        </p:sp>
        <p:sp>
          <p:nvSpPr>
            <p:cNvPr name="TextBox 18" id="18"/>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19" id="19"/>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827296" y="2467674"/>
            <a:ext cx="4517946" cy="4713354"/>
          </a:xfrm>
          <a:custGeom>
            <a:avLst/>
            <a:gdLst/>
            <a:ahLst/>
            <a:cxnLst/>
            <a:rect r="r" b="b" t="t" l="l"/>
            <a:pathLst>
              <a:path h="4713354" w="4517946">
                <a:moveTo>
                  <a:pt x="0" y="0"/>
                </a:moveTo>
                <a:lnTo>
                  <a:pt x="4517946" y="0"/>
                </a:lnTo>
                <a:lnTo>
                  <a:pt x="4517946" y="4713354"/>
                </a:lnTo>
                <a:lnTo>
                  <a:pt x="0" y="4713354"/>
                </a:lnTo>
                <a:lnTo>
                  <a:pt x="0" y="0"/>
                </a:lnTo>
                <a:close/>
              </a:path>
            </a:pathLst>
          </a:custGeom>
          <a:blipFill>
            <a:blip r:embed="rId5"/>
            <a:stretch>
              <a:fillRect l="0" t="-6126" r="-130754" b="-6126"/>
            </a:stretch>
          </a:blipFill>
        </p:spPr>
      </p:sp>
      <p:sp>
        <p:nvSpPr>
          <p:cNvPr name="Freeform 6" id="6"/>
          <p:cNvSpPr/>
          <p:nvPr/>
        </p:nvSpPr>
        <p:spPr>
          <a:xfrm flipH="false" flipV="false" rot="0">
            <a:off x="10382432" y="2383490"/>
            <a:ext cx="5745468" cy="4797538"/>
          </a:xfrm>
          <a:custGeom>
            <a:avLst/>
            <a:gdLst/>
            <a:ahLst/>
            <a:cxnLst/>
            <a:rect r="r" b="b" t="t" l="l"/>
            <a:pathLst>
              <a:path h="4797538" w="5745468">
                <a:moveTo>
                  <a:pt x="0" y="0"/>
                </a:moveTo>
                <a:lnTo>
                  <a:pt x="5745468" y="0"/>
                </a:lnTo>
                <a:lnTo>
                  <a:pt x="5745468" y="4797538"/>
                </a:lnTo>
                <a:lnTo>
                  <a:pt x="0" y="4797538"/>
                </a:lnTo>
                <a:lnTo>
                  <a:pt x="0" y="0"/>
                </a:lnTo>
                <a:close/>
              </a:path>
            </a:pathLst>
          </a:custGeom>
          <a:blipFill>
            <a:blip r:embed="rId6"/>
            <a:stretch>
              <a:fillRect l="0" t="0" r="0" b="0"/>
            </a:stretch>
          </a:blipFill>
        </p:spPr>
      </p:sp>
      <p:grpSp>
        <p:nvGrpSpPr>
          <p:cNvPr name="Group 7" id="7"/>
          <p:cNvGrpSpPr/>
          <p:nvPr/>
        </p:nvGrpSpPr>
        <p:grpSpPr>
          <a:xfrm rot="0">
            <a:off x="0" y="9536329"/>
            <a:ext cx="18288000" cy="1043940"/>
            <a:chOff x="0" y="0"/>
            <a:chExt cx="24384000" cy="1391920"/>
          </a:xfrm>
        </p:grpSpPr>
        <p:sp>
          <p:nvSpPr>
            <p:cNvPr name="TextBox 8" id="8"/>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9" id="9"/>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10" id="10"/>
          <p:cNvSpPr txBox="true"/>
          <p:nvPr/>
        </p:nvSpPr>
        <p:spPr>
          <a:xfrm rot="0">
            <a:off x="2439217" y="7542978"/>
            <a:ext cx="5294104" cy="110871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Norms"/>
                <a:ea typeface="TT Norms"/>
                <a:cs typeface="TT Norms"/>
                <a:sym typeface="TT Norms"/>
              </a:rPr>
              <a:t>We process Whole Slide Images (WSIs) by dividing them into manageable 256x256 patches. </a:t>
            </a:r>
          </a:p>
        </p:txBody>
      </p:sp>
      <p:sp>
        <p:nvSpPr>
          <p:cNvPr name="TextBox 11" id="11"/>
          <p:cNvSpPr txBox="true"/>
          <p:nvPr/>
        </p:nvSpPr>
        <p:spPr>
          <a:xfrm rot="0">
            <a:off x="10608114" y="7542978"/>
            <a:ext cx="5294104" cy="1108710"/>
          </a:xfrm>
          <a:prstGeom prst="rect">
            <a:avLst/>
          </a:prstGeom>
        </p:spPr>
        <p:txBody>
          <a:bodyPr anchor="t" rtlCol="false" tIns="0" lIns="0" bIns="0" rIns="0">
            <a:spAutoFit/>
          </a:bodyPr>
          <a:lstStyle/>
          <a:p>
            <a:pPr algn="ctr">
              <a:lnSpc>
                <a:spcPts val="2939"/>
              </a:lnSpc>
              <a:spcBef>
                <a:spcPct val="0"/>
              </a:spcBef>
            </a:pPr>
            <a:r>
              <a:rPr lang="en-US" sz="2099">
                <a:solidFill>
                  <a:srgbClr val="FFFFFF"/>
                </a:solidFill>
                <a:latin typeface="TT Norms"/>
                <a:ea typeface="TT Norms"/>
                <a:cs typeface="TT Norms"/>
                <a:sym typeface="TT Norms"/>
              </a:rPr>
              <a:t>Multiple smaller masks are merged to create a single ground truth mask, representing the entire region of interest.</a:t>
            </a:r>
          </a:p>
        </p:txBody>
      </p:sp>
      <p:grpSp>
        <p:nvGrpSpPr>
          <p:cNvPr name="Group 12" id="12"/>
          <p:cNvGrpSpPr/>
          <p:nvPr/>
        </p:nvGrpSpPr>
        <p:grpSpPr>
          <a:xfrm rot="0">
            <a:off x="1616246" y="1028700"/>
            <a:ext cx="15055508" cy="723427"/>
            <a:chOff x="0" y="0"/>
            <a:chExt cx="20074010" cy="964570"/>
          </a:xfrm>
        </p:grpSpPr>
        <p:sp>
          <p:nvSpPr>
            <p:cNvPr name="AutoShape 13" id="13"/>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4" id="14"/>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5" id="15"/>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16" id="16"/>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DATASET</a:t>
              </a:r>
            </a:p>
          </p:txBody>
        </p:sp>
        <p:sp>
          <p:nvSpPr>
            <p:cNvPr name="TextBox 17" id="17"/>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8" id="18"/>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9" id="19"/>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20" id="20"/>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9536329"/>
            <a:ext cx="18288000" cy="1043940"/>
            <a:chOff x="0" y="0"/>
            <a:chExt cx="24384000" cy="1391920"/>
          </a:xfrm>
        </p:grpSpPr>
        <p:sp>
          <p:nvSpPr>
            <p:cNvPr name="TextBox 6" id="6"/>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7" id="7"/>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8" id="8"/>
          <p:cNvSpPr txBox="true"/>
          <p:nvPr/>
        </p:nvSpPr>
        <p:spPr>
          <a:xfrm rot="0">
            <a:off x="880235" y="2549250"/>
            <a:ext cx="7519200" cy="5765165"/>
          </a:xfrm>
          <a:prstGeom prst="rect">
            <a:avLst/>
          </a:prstGeom>
        </p:spPr>
        <p:txBody>
          <a:bodyPr anchor="t" rtlCol="false" tIns="0" lIns="0" bIns="0" rIns="0">
            <a:spAutoFit/>
          </a:bodyPr>
          <a:lstStyle/>
          <a:p>
            <a:pPr algn="l">
              <a:lnSpc>
                <a:spcPts val="3079"/>
              </a:lnSpc>
            </a:pPr>
          </a:p>
          <a:p>
            <a:pPr algn="l">
              <a:lnSpc>
                <a:spcPts val="3079"/>
              </a:lnSpc>
              <a:spcBef>
                <a:spcPct val="0"/>
              </a:spcBef>
            </a:pPr>
            <a:r>
              <a:rPr lang="en-US" sz="2199">
                <a:solidFill>
                  <a:srgbClr val="FFFFFF"/>
                </a:solidFill>
                <a:latin typeface="TT Norms"/>
                <a:ea typeface="TT Norms"/>
                <a:cs typeface="TT Norms"/>
                <a:sym typeface="TT Norms"/>
              </a:rPr>
              <a:t>Training Process</a:t>
            </a:r>
          </a:p>
          <a:p>
            <a:pPr algn="l" marL="474979" indent="-237490" lvl="1">
              <a:lnSpc>
                <a:spcPts val="3079"/>
              </a:lnSpc>
              <a:spcBef>
                <a:spcPct val="0"/>
              </a:spcBef>
              <a:buFont typeface="Arial"/>
              <a:buChar char="•"/>
            </a:pPr>
            <a:r>
              <a:rPr lang="en-US" sz="2199">
                <a:solidFill>
                  <a:srgbClr val="FFFFFF"/>
                </a:solidFill>
                <a:latin typeface="TT Norms"/>
                <a:ea typeface="TT Norms"/>
                <a:cs typeface="TT Norms"/>
                <a:sym typeface="TT Norms"/>
              </a:rPr>
              <a:t>Compilation: Adam optimizer with binary cross-entropy loss for binary segmentation (nuclei vs. background). Dice coefficient used as evaluation metric.</a:t>
            </a:r>
          </a:p>
          <a:p>
            <a:pPr algn="l" marL="474979" indent="-237490" lvl="1">
              <a:lnSpc>
                <a:spcPts val="3079"/>
              </a:lnSpc>
              <a:spcBef>
                <a:spcPct val="0"/>
              </a:spcBef>
              <a:buFont typeface="Arial"/>
              <a:buChar char="•"/>
            </a:pPr>
            <a:r>
              <a:rPr lang="en-US" sz="2199">
                <a:solidFill>
                  <a:srgbClr val="FFFFFF"/>
                </a:solidFill>
                <a:latin typeface="TT Norms"/>
                <a:ea typeface="TT Norms"/>
                <a:cs typeface="TT Norms"/>
                <a:sym typeface="TT Norms"/>
              </a:rPr>
              <a:t>Callbacks: Early stopping after 4 epochs of no improvement in validation loss. Learning rate reduction by 0.5 when validation loss plateaus.</a:t>
            </a:r>
          </a:p>
          <a:p>
            <a:pPr algn="l" marL="474979" indent="-237490" lvl="1">
              <a:lnSpc>
                <a:spcPts val="3079"/>
              </a:lnSpc>
              <a:spcBef>
                <a:spcPct val="0"/>
              </a:spcBef>
              <a:buFont typeface="Arial"/>
              <a:buChar char="•"/>
            </a:pPr>
            <a:r>
              <a:rPr lang="en-US" sz="2199">
                <a:solidFill>
                  <a:srgbClr val="FFFFFF"/>
                </a:solidFill>
                <a:latin typeface="TT Norms"/>
                <a:ea typeface="TT Norms"/>
                <a:cs typeface="TT Norms"/>
                <a:sym typeface="TT Norms"/>
              </a:rPr>
              <a:t>Training: Model trained for 30 epochs, using training data and evaluated on validation data, optimized with callbacks to avoid overfitting.</a:t>
            </a:r>
          </a:p>
          <a:p>
            <a:pPr algn="l">
              <a:lnSpc>
                <a:spcPts val="2940"/>
              </a:lnSpc>
              <a:spcBef>
                <a:spcPct val="0"/>
              </a:spcBef>
            </a:pPr>
          </a:p>
          <a:p>
            <a:pPr algn="l">
              <a:lnSpc>
                <a:spcPts val="2940"/>
              </a:lnSpc>
              <a:spcBef>
                <a:spcPct val="0"/>
              </a:spcBef>
            </a:pPr>
          </a:p>
          <a:p>
            <a:pPr algn="l">
              <a:lnSpc>
                <a:spcPts val="2940"/>
              </a:lnSpc>
              <a:spcBef>
                <a:spcPct val="0"/>
              </a:spcBef>
            </a:pPr>
          </a:p>
          <a:p>
            <a:pPr algn="ctr">
              <a:lnSpc>
                <a:spcPts val="2940"/>
              </a:lnSpc>
              <a:spcBef>
                <a:spcPct val="0"/>
              </a:spcBef>
            </a:pPr>
          </a:p>
        </p:txBody>
      </p:sp>
      <p:sp>
        <p:nvSpPr>
          <p:cNvPr name="Freeform 9" id="9"/>
          <p:cNvSpPr/>
          <p:nvPr/>
        </p:nvSpPr>
        <p:spPr>
          <a:xfrm flipH="false" flipV="false" rot="0">
            <a:off x="8558453" y="2886758"/>
            <a:ext cx="8700847" cy="4513483"/>
          </a:xfrm>
          <a:custGeom>
            <a:avLst/>
            <a:gdLst/>
            <a:ahLst/>
            <a:cxnLst/>
            <a:rect r="r" b="b" t="t" l="l"/>
            <a:pathLst>
              <a:path h="4513483" w="8700847">
                <a:moveTo>
                  <a:pt x="0" y="0"/>
                </a:moveTo>
                <a:lnTo>
                  <a:pt x="8700847" y="0"/>
                </a:lnTo>
                <a:lnTo>
                  <a:pt x="8700847" y="4513484"/>
                </a:lnTo>
                <a:lnTo>
                  <a:pt x="0" y="4513484"/>
                </a:lnTo>
                <a:lnTo>
                  <a:pt x="0" y="0"/>
                </a:lnTo>
                <a:close/>
              </a:path>
            </a:pathLst>
          </a:custGeom>
          <a:blipFill>
            <a:blip r:embed="rId5"/>
            <a:stretch>
              <a:fillRect l="0" t="0" r="0" b="0"/>
            </a:stretch>
          </a:blipFill>
        </p:spPr>
      </p:sp>
      <p:grpSp>
        <p:nvGrpSpPr>
          <p:cNvPr name="Group 10" id="10"/>
          <p:cNvGrpSpPr/>
          <p:nvPr/>
        </p:nvGrpSpPr>
        <p:grpSpPr>
          <a:xfrm rot="0">
            <a:off x="1616246" y="1028700"/>
            <a:ext cx="15055508" cy="723427"/>
            <a:chOff x="0" y="0"/>
            <a:chExt cx="20074010" cy="964570"/>
          </a:xfrm>
        </p:grpSpPr>
        <p:sp>
          <p:nvSpPr>
            <p:cNvPr name="AutoShape 11" id="11"/>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2" id="12"/>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3" id="13"/>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14" id="14"/>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5" id="15"/>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MODEL</a:t>
              </a:r>
            </a:p>
          </p:txBody>
        </p:sp>
        <p:sp>
          <p:nvSpPr>
            <p:cNvPr name="TextBox 16" id="16"/>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7" id="17"/>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18" id="18"/>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9144000" y="2695102"/>
            <a:ext cx="8646762" cy="3295444"/>
          </a:xfrm>
          <a:custGeom>
            <a:avLst/>
            <a:gdLst/>
            <a:ahLst/>
            <a:cxnLst/>
            <a:rect r="r" b="b" t="t" l="l"/>
            <a:pathLst>
              <a:path h="3295444" w="8646762">
                <a:moveTo>
                  <a:pt x="0" y="0"/>
                </a:moveTo>
                <a:lnTo>
                  <a:pt x="8646762" y="0"/>
                </a:lnTo>
                <a:lnTo>
                  <a:pt x="8646762" y="3295445"/>
                </a:lnTo>
                <a:lnTo>
                  <a:pt x="0" y="3295445"/>
                </a:lnTo>
                <a:lnTo>
                  <a:pt x="0" y="0"/>
                </a:lnTo>
                <a:close/>
              </a:path>
            </a:pathLst>
          </a:custGeom>
          <a:blipFill>
            <a:blip r:embed="rId5"/>
            <a:stretch>
              <a:fillRect l="0" t="0" r="0" b="0"/>
            </a:stretch>
          </a:blipFill>
        </p:spPr>
      </p:sp>
      <p:grpSp>
        <p:nvGrpSpPr>
          <p:cNvPr name="Group 6" id="6"/>
          <p:cNvGrpSpPr/>
          <p:nvPr/>
        </p:nvGrpSpPr>
        <p:grpSpPr>
          <a:xfrm rot="0">
            <a:off x="0" y="9536329"/>
            <a:ext cx="18288000" cy="1043940"/>
            <a:chOff x="0" y="0"/>
            <a:chExt cx="24384000" cy="1391920"/>
          </a:xfrm>
        </p:grpSpPr>
        <p:sp>
          <p:nvSpPr>
            <p:cNvPr name="TextBox 7" id="7"/>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8" id="8"/>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9" id="9"/>
          <p:cNvSpPr txBox="true"/>
          <p:nvPr/>
        </p:nvSpPr>
        <p:spPr>
          <a:xfrm rot="0">
            <a:off x="9515973" y="6182736"/>
            <a:ext cx="7902815" cy="2594610"/>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TT Norms"/>
                <a:ea typeface="TT Norms"/>
                <a:cs typeface="TT Norms"/>
                <a:sym typeface="TT Norms"/>
              </a:rPr>
              <a:t>"S</a:t>
            </a:r>
            <a:r>
              <a:rPr lang="en-US" sz="2100">
                <a:solidFill>
                  <a:srgbClr val="FFFFFF"/>
                </a:solidFill>
                <a:latin typeface="TT Norms"/>
                <a:ea typeface="TT Norms"/>
                <a:cs typeface="TT Norms"/>
                <a:sym typeface="TT Norms"/>
              </a:rPr>
              <a:t>EGMENTATION MODEL EVALUATION: COMPARISON OF GROUND TRUTH AND PREDICTED MASKS ON TEST IMAGE"</a:t>
            </a:r>
          </a:p>
          <a:p>
            <a:pPr algn="l">
              <a:lnSpc>
                <a:spcPts val="2940"/>
              </a:lnSpc>
              <a:spcBef>
                <a:spcPct val="0"/>
              </a:spcBef>
            </a:pPr>
          </a:p>
          <a:p>
            <a:pPr algn="l">
              <a:lnSpc>
                <a:spcPts val="2940"/>
              </a:lnSpc>
              <a:spcBef>
                <a:spcPct val="0"/>
              </a:spcBef>
            </a:pPr>
          </a:p>
          <a:p>
            <a:pPr algn="l">
              <a:lnSpc>
                <a:spcPts val="2940"/>
              </a:lnSpc>
              <a:spcBef>
                <a:spcPct val="0"/>
              </a:spcBef>
            </a:pPr>
          </a:p>
          <a:p>
            <a:pPr algn="l">
              <a:lnSpc>
                <a:spcPts val="2940"/>
              </a:lnSpc>
              <a:spcBef>
                <a:spcPct val="0"/>
              </a:spcBef>
            </a:pPr>
          </a:p>
          <a:p>
            <a:pPr algn="ctr">
              <a:lnSpc>
                <a:spcPts val="2940"/>
              </a:lnSpc>
              <a:spcBef>
                <a:spcPct val="0"/>
              </a:spcBef>
            </a:pPr>
          </a:p>
        </p:txBody>
      </p:sp>
      <p:grpSp>
        <p:nvGrpSpPr>
          <p:cNvPr name="Group 10" id="10"/>
          <p:cNvGrpSpPr/>
          <p:nvPr/>
        </p:nvGrpSpPr>
        <p:grpSpPr>
          <a:xfrm rot="0">
            <a:off x="1028700" y="2695102"/>
            <a:ext cx="7902815" cy="5902981"/>
            <a:chOff x="0" y="0"/>
            <a:chExt cx="10537087" cy="7870641"/>
          </a:xfrm>
        </p:grpSpPr>
        <p:sp>
          <p:nvSpPr>
            <p:cNvPr name="Freeform 11" id="11"/>
            <p:cNvSpPr/>
            <p:nvPr/>
          </p:nvSpPr>
          <p:spPr>
            <a:xfrm flipH="false" flipV="false" rot="0">
              <a:off x="227371" y="0"/>
              <a:ext cx="10082345" cy="6261532"/>
            </a:xfrm>
            <a:custGeom>
              <a:avLst/>
              <a:gdLst/>
              <a:ahLst/>
              <a:cxnLst/>
              <a:rect r="r" b="b" t="t" l="l"/>
              <a:pathLst>
                <a:path h="6261532" w="10082345">
                  <a:moveTo>
                    <a:pt x="0" y="0"/>
                  </a:moveTo>
                  <a:lnTo>
                    <a:pt x="10082345" y="0"/>
                  </a:lnTo>
                  <a:lnTo>
                    <a:pt x="10082345" y="6261532"/>
                  </a:lnTo>
                  <a:lnTo>
                    <a:pt x="0" y="6261532"/>
                  </a:lnTo>
                  <a:lnTo>
                    <a:pt x="0" y="0"/>
                  </a:lnTo>
                  <a:close/>
                </a:path>
              </a:pathLst>
            </a:custGeom>
            <a:blipFill>
              <a:blip r:embed="rId6"/>
              <a:stretch>
                <a:fillRect l="0" t="0" r="0" b="0"/>
              </a:stretch>
            </a:blipFill>
          </p:spPr>
        </p:sp>
        <p:sp>
          <p:nvSpPr>
            <p:cNvPr name="TextBox 12" id="12"/>
            <p:cNvSpPr txBox="true"/>
            <p:nvPr/>
          </p:nvSpPr>
          <p:spPr>
            <a:xfrm rot="0">
              <a:off x="0" y="6481050"/>
              <a:ext cx="10537087" cy="13895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THE DICE COEFFICIENT IS A METRIC USED T</a:t>
              </a:r>
              <a:r>
                <a:rPr lang="en-US" sz="2000">
                  <a:solidFill>
                    <a:srgbClr val="FFFFFF"/>
                  </a:solidFill>
                  <a:latin typeface="TT Norms"/>
                  <a:ea typeface="TT Norms"/>
                  <a:cs typeface="TT Norms"/>
                  <a:sym typeface="TT Norms"/>
                </a:rPr>
                <a:t>O MEASURE THE OVERLAP BETWEEN TWO BINARY MASKS, RANGING FROM 0 (NO OVERLAP) TO 1 (PERFECT OVERLAP). </a:t>
              </a:r>
            </a:p>
          </p:txBody>
        </p:sp>
      </p:grpSp>
      <p:grpSp>
        <p:nvGrpSpPr>
          <p:cNvPr name="Group 13" id="13"/>
          <p:cNvGrpSpPr/>
          <p:nvPr/>
        </p:nvGrpSpPr>
        <p:grpSpPr>
          <a:xfrm rot="0">
            <a:off x="1510004" y="1028700"/>
            <a:ext cx="15055508" cy="723427"/>
            <a:chOff x="0" y="0"/>
            <a:chExt cx="20074010" cy="964570"/>
          </a:xfrm>
        </p:grpSpPr>
        <p:sp>
          <p:nvSpPr>
            <p:cNvPr name="AutoShape 14" id="14"/>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5" id="15"/>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6" id="16"/>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17" id="17"/>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8" id="18"/>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9" id="19"/>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RESULTS</a:t>
              </a:r>
            </a:p>
          </p:txBody>
        </p:sp>
        <p:sp>
          <p:nvSpPr>
            <p:cNvPr name="TextBox 20" id="20"/>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21" id="21"/>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510004" y="1028700"/>
            <a:ext cx="15055508" cy="723427"/>
            <a:chOff x="0" y="0"/>
            <a:chExt cx="20074010" cy="964570"/>
          </a:xfrm>
        </p:grpSpPr>
        <p:sp>
          <p:nvSpPr>
            <p:cNvPr name="AutoShape 6" id="6"/>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7" id="7"/>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8" id="8"/>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9" id="9"/>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0" id="10"/>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1" id="11"/>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2" id="12"/>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FUTUREWORK</a:t>
              </a:r>
            </a:p>
          </p:txBody>
        </p:sp>
        <p:sp>
          <p:nvSpPr>
            <p:cNvPr name="TextBox 13" id="13"/>
            <p:cNvSpPr txBox="true"/>
            <p:nvPr/>
          </p:nvSpPr>
          <p:spPr>
            <a:xfrm rot="0">
              <a:off x="14261609" y="-47625"/>
              <a:ext cx="1818218" cy="449792"/>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TT Norms Bold"/>
                  <a:ea typeface="TT Norms Bold"/>
                  <a:cs typeface="TT Norms Bold"/>
                  <a:sym typeface="TT Norms Bold"/>
                </a:rPr>
                <a:t>REMARKS</a:t>
              </a:r>
            </a:p>
          </p:txBody>
        </p:sp>
      </p:grpSp>
      <p:sp>
        <p:nvSpPr>
          <p:cNvPr name="Freeform 14" id="14"/>
          <p:cNvSpPr/>
          <p:nvPr/>
        </p:nvSpPr>
        <p:spPr>
          <a:xfrm flipH="false" flipV="false" rot="0">
            <a:off x="9625304" y="2525628"/>
            <a:ext cx="6893735" cy="3610594"/>
          </a:xfrm>
          <a:custGeom>
            <a:avLst/>
            <a:gdLst/>
            <a:ahLst/>
            <a:cxnLst/>
            <a:rect r="r" b="b" t="t" l="l"/>
            <a:pathLst>
              <a:path h="3610594" w="6893735">
                <a:moveTo>
                  <a:pt x="0" y="0"/>
                </a:moveTo>
                <a:lnTo>
                  <a:pt x="6893735" y="0"/>
                </a:lnTo>
                <a:lnTo>
                  <a:pt x="6893735" y="3610593"/>
                </a:lnTo>
                <a:lnTo>
                  <a:pt x="0" y="3610593"/>
                </a:lnTo>
                <a:lnTo>
                  <a:pt x="0" y="0"/>
                </a:lnTo>
                <a:close/>
              </a:path>
            </a:pathLst>
          </a:custGeom>
          <a:blipFill>
            <a:blip r:embed="rId5"/>
            <a:stretch>
              <a:fillRect l="0" t="0" r="0" b="0"/>
            </a:stretch>
          </a:blipFill>
        </p:spPr>
      </p:sp>
      <p:grpSp>
        <p:nvGrpSpPr>
          <p:cNvPr name="Group 15" id="15"/>
          <p:cNvGrpSpPr/>
          <p:nvPr/>
        </p:nvGrpSpPr>
        <p:grpSpPr>
          <a:xfrm rot="0">
            <a:off x="0" y="9536329"/>
            <a:ext cx="18288000" cy="1043940"/>
            <a:chOff x="0" y="0"/>
            <a:chExt cx="24384000" cy="1391920"/>
          </a:xfrm>
        </p:grpSpPr>
        <p:sp>
          <p:nvSpPr>
            <p:cNvPr name="TextBox 16" id="16"/>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17" id="17"/>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18" id="18"/>
          <p:cNvSpPr txBox="true"/>
          <p:nvPr/>
        </p:nvSpPr>
        <p:spPr>
          <a:xfrm rot="0">
            <a:off x="1510004" y="2131043"/>
            <a:ext cx="7497934" cy="5635625"/>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INTIAL PLANS:</a:t>
            </a:r>
          </a:p>
          <a:p>
            <a:pPr algn="l">
              <a:lnSpc>
                <a:spcPts val="2800"/>
              </a:lnSpc>
              <a:spcBef>
                <a:spcPct val="0"/>
              </a:spcBef>
            </a:pP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 USE RAW WSIS + MANUAL SEGMENTATION OF NUCLEI</a:t>
            </a:r>
          </a:p>
          <a:p>
            <a:pPr algn="l">
              <a:lnSpc>
                <a:spcPts val="2800"/>
              </a:lnSpc>
              <a:spcBef>
                <a:spcPct val="0"/>
              </a:spcBef>
            </a:pPr>
          </a:p>
          <a:p>
            <a:pPr algn="l" marL="863601" indent="-287867" lvl="2">
              <a:lnSpc>
                <a:spcPts val="2800"/>
              </a:lnSpc>
              <a:spcBef>
                <a:spcPct val="0"/>
              </a:spcBef>
              <a:buFont typeface="Arial"/>
              <a:buChar char="⚬"/>
            </a:pPr>
            <a:r>
              <a:rPr lang="en-US" sz="2000">
                <a:solidFill>
                  <a:srgbClr val="FFFFFF"/>
                </a:solidFill>
                <a:latin typeface="TT Norms"/>
                <a:ea typeface="TT Norms"/>
                <a:cs typeface="TT Norms"/>
                <a:sym typeface="TT Norms"/>
              </a:rPr>
              <a:t> IMPRACTICAL → VERY LARGE IMAGE SIZES, TILING OVERHEAD, MANUAL ANNOTATION TOO TIME-CONSUMING</a:t>
            </a:r>
          </a:p>
          <a:p>
            <a:pPr algn="l">
              <a:lnSpc>
                <a:spcPts val="2800"/>
              </a:lnSpc>
              <a:spcBef>
                <a:spcPct val="0"/>
              </a:spcBef>
            </a:pP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SAM (SEGMENT ANYTHING MODEL) FOR AUTO-SEGMENTATION </a:t>
            </a:r>
          </a:p>
          <a:p>
            <a:pPr algn="l">
              <a:lnSpc>
                <a:spcPts val="2800"/>
              </a:lnSpc>
              <a:spcBef>
                <a:spcPct val="0"/>
              </a:spcBef>
            </a:pPr>
          </a:p>
          <a:p>
            <a:pPr algn="l" marL="863601" indent="-287867" lvl="2">
              <a:lnSpc>
                <a:spcPts val="2800"/>
              </a:lnSpc>
              <a:spcBef>
                <a:spcPct val="0"/>
              </a:spcBef>
              <a:buFont typeface="Arial"/>
              <a:buChar char="⚬"/>
            </a:pPr>
            <a:r>
              <a:rPr lang="en-US" sz="2000">
                <a:solidFill>
                  <a:srgbClr val="FFFFFF"/>
                </a:solidFill>
                <a:latin typeface="TT Norms"/>
                <a:ea typeface="TT Norms"/>
                <a:cs typeface="TT Norms"/>
                <a:sym typeface="TT Norms"/>
              </a:rPr>
              <a:t> POOR PERFORMANCE ON HISTOPATHOLOGY DATA → INACCURATE &amp; INCONSISTENT NUCLEI MASKS</a:t>
            </a:r>
          </a:p>
          <a:p>
            <a:pPr algn="l">
              <a:lnSpc>
                <a:spcPts val="2800"/>
              </a:lnSpc>
              <a:spcBef>
                <a:spcPct val="0"/>
              </a:spcBef>
            </a:pPr>
          </a:p>
          <a:p>
            <a:pPr algn="l">
              <a:lnSpc>
                <a:spcPts val="2800"/>
              </a:lnSpc>
              <a:spcBef>
                <a:spcPct val="0"/>
              </a:spcBef>
            </a:pPr>
          </a:p>
          <a:p>
            <a:pPr algn="l">
              <a:lnSpc>
                <a:spcPts val="2800"/>
              </a:lnSpc>
              <a:spcBef>
                <a:spcPct val="0"/>
              </a:spcBef>
            </a:pPr>
          </a:p>
        </p:txBody>
      </p:sp>
      <p:sp>
        <p:nvSpPr>
          <p:cNvPr name="TextBox 19" id="19"/>
          <p:cNvSpPr txBox="true"/>
          <p:nvPr/>
        </p:nvSpPr>
        <p:spPr>
          <a:xfrm rot="0">
            <a:off x="4959667" y="7319533"/>
            <a:ext cx="8368665" cy="1406525"/>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TT Norms"/>
                <a:ea typeface="TT Norms"/>
                <a:cs typeface="TT Norms"/>
                <a:sym typeface="TT Norms"/>
              </a:rPr>
              <a:t>FINAL  APPR</a:t>
            </a:r>
            <a:r>
              <a:rPr lang="en-US" sz="2000">
                <a:solidFill>
                  <a:srgbClr val="FFFFFF"/>
                </a:solidFill>
                <a:latin typeface="TT Norms"/>
                <a:ea typeface="TT Norms"/>
                <a:cs typeface="TT Norms"/>
                <a:sym typeface="TT Norms"/>
              </a:rPr>
              <a:t>OACH: PUBLICLY AVAILABLE PRE-SEGMENTED DATASET</a:t>
            </a: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 RELIABLE GROUND TRUTH MASKS</a:t>
            </a: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 ENABLED FOCUS ON MODEL DEVELOPMENT &amp; TRAINING</a:t>
            </a:r>
          </a:p>
          <a:p>
            <a:pPr algn="l">
              <a:lnSpc>
                <a:spcPts val="28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922028" y="2701925"/>
            <a:ext cx="4666275" cy="5285497"/>
          </a:xfrm>
          <a:custGeom>
            <a:avLst/>
            <a:gdLst/>
            <a:ahLst/>
            <a:cxnLst/>
            <a:rect r="r" b="b" t="t" l="l"/>
            <a:pathLst>
              <a:path h="5285497" w="4666275">
                <a:moveTo>
                  <a:pt x="0" y="0"/>
                </a:moveTo>
                <a:lnTo>
                  <a:pt x="4666276" y="0"/>
                </a:lnTo>
                <a:lnTo>
                  <a:pt x="4666276" y="5285497"/>
                </a:lnTo>
                <a:lnTo>
                  <a:pt x="0" y="5285497"/>
                </a:lnTo>
                <a:lnTo>
                  <a:pt x="0" y="0"/>
                </a:lnTo>
                <a:close/>
              </a:path>
            </a:pathLst>
          </a:custGeom>
          <a:blipFill>
            <a:blip r:embed="rId5"/>
            <a:stretch>
              <a:fillRect l="0" t="0" r="0" b="0"/>
            </a:stretch>
          </a:blipFill>
        </p:spPr>
      </p:sp>
      <p:grpSp>
        <p:nvGrpSpPr>
          <p:cNvPr name="Group 6" id="6"/>
          <p:cNvGrpSpPr/>
          <p:nvPr/>
        </p:nvGrpSpPr>
        <p:grpSpPr>
          <a:xfrm rot="0">
            <a:off x="0" y="9536329"/>
            <a:ext cx="18288000" cy="1043940"/>
            <a:chOff x="0" y="0"/>
            <a:chExt cx="24384000" cy="1391920"/>
          </a:xfrm>
        </p:grpSpPr>
        <p:sp>
          <p:nvSpPr>
            <p:cNvPr name="TextBox 7" id="7"/>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8" id="8"/>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
        <p:nvSpPr>
          <p:cNvPr name="TextBox 9" id="9"/>
          <p:cNvSpPr txBox="true"/>
          <p:nvPr/>
        </p:nvSpPr>
        <p:spPr>
          <a:xfrm rot="0">
            <a:off x="1135189" y="2654300"/>
            <a:ext cx="7459524" cy="4930775"/>
          </a:xfrm>
          <a:prstGeom prst="rect">
            <a:avLst/>
          </a:prstGeom>
        </p:spPr>
        <p:txBody>
          <a:bodyPr anchor="t" rtlCol="false" tIns="0" lIns="0" bIns="0" rIns="0">
            <a:spAutoFit/>
          </a:bodyPr>
          <a:lstStyle/>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M</a:t>
            </a:r>
            <a:r>
              <a:rPr lang="en-US" sz="2000">
                <a:solidFill>
                  <a:srgbClr val="FFFFFF"/>
                </a:solidFill>
                <a:latin typeface="TT Norms"/>
                <a:ea typeface="TT Norms"/>
                <a:cs typeface="TT Norms"/>
                <a:sym typeface="TT Norms"/>
              </a:rPr>
              <a:t>odel Improvement: Explore advanced architectures like U-Net++ or Transformer-based models to improve segmentation performance.</a:t>
            </a:r>
          </a:p>
          <a:p>
            <a:pPr algn="l">
              <a:lnSpc>
                <a:spcPts val="2800"/>
              </a:lnSpc>
              <a:spcBef>
                <a:spcPct val="0"/>
              </a:spcBef>
            </a:pP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Data Diversity: Use datasets with images containing diverse backgrounds (e.g., tissue samples, varying lighting, or environmental factors) to make the model more robust.</a:t>
            </a:r>
          </a:p>
          <a:p>
            <a:pPr algn="l">
              <a:lnSpc>
                <a:spcPts val="2800"/>
              </a:lnSpc>
              <a:spcBef>
                <a:spcPct val="0"/>
              </a:spcBef>
            </a:pP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Real-Time Inference </a:t>
            </a:r>
          </a:p>
          <a:p>
            <a:pPr algn="l">
              <a:lnSpc>
                <a:spcPts val="2800"/>
              </a:lnSpc>
              <a:spcBef>
                <a:spcPct val="0"/>
              </a:spcBef>
            </a:pPr>
          </a:p>
          <a:p>
            <a:pPr algn="l" marL="431801" indent="-215900" lvl="1">
              <a:lnSpc>
                <a:spcPts val="2800"/>
              </a:lnSpc>
              <a:spcBef>
                <a:spcPct val="0"/>
              </a:spcBef>
              <a:buFont typeface="Arial"/>
              <a:buChar char="•"/>
            </a:pPr>
            <a:r>
              <a:rPr lang="en-US" sz="2000">
                <a:solidFill>
                  <a:srgbClr val="FFFFFF"/>
                </a:solidFill>
                <a:latin typeface="TT Norms"/>
                <a:ea typeface="TT Norms"/>
                <a:cs typeface="TT Norms"/>
                <a:sym typeface="TT Norms"/>
              </a:rPr>
              <a:t>Model Deployment</a:t>
            </a:r>
          </a:p>
          <a:p>
            <a:pPr algn="l">
              <a:lnSpc>
                <a:spcPts val="2800"/>
              </a:lnSpc>
              <a:spcBef>
                <a:spcPct val="0"/>
              </a:spcBef>
            </a:pPr>
          </a:p>
          <a:p>
            <a:pPr algn="l">
              <a:lnSpc>
                <a:spcPts val="2800"/>
              </a:lnSpc>
              <a:spcBef>
                <a:spcPct val="0"/>
              </a:spcBef>
            </a:pPr>
          </a:p>
          <a:p>
            <a:pPr algn="l">
              <a:lnSpc>
                <a:spcPts val="2800"/>
              </a:lnSpc>
              <a:spcBef>
                <a:spcPct val="0"/>
              </a:spcBef>
            </a:pPr>
          </a:p>
        </p:txBody>
      </p:sp>
      <p:grpSp>
        <p:nvGrpSpPr>
          <p:cNvPr name="Group 10" id="10"/>
          <p:cNvGrpSpPr/>
          <p:nvPr/>
        </p:nvGrpSpPr>
        <p:grpSpPr>
          <a:xfrm rot="0">
            <a:off x="1616246" y="1028700"/>
            <a:ext cx="15055508" cy="723427"/>
            <a:chOff x="0" y="0"/>
            <a:chExt cx="20074010" cy="964570"/>
          </a:xfrm>
        </p:grpSpPr>
        <p:sp>
          <p:nvSpPr>
            <p:cNvPr name="AutoShape 11" id="11"/>
            <p:cNvSpPr/>
            <p:nvPr/>
          </p:nvSpPr>
          <p:spPr>
            <a:xfrm>
              <a:off x="0" y="951870"/>
              <a:ext cx="20074010" cy="0"/>
            </a:xfrm>
            <a:prstGeom prst="line">
              <a:avLst/>
            </a:prstGeom>
            <a:ln cap="flat" w="25400">
              <a:solidFill>
                <a:srgbClr val="FFFFFF"/>
              </a:solidFill>
              <a:prstDash val="solid"/>
              <a:headEnd type="none" len="sm" w="sm"/>
              <a:tailEnd type="none" len="sm" w="sm"/>
            </a:ln>
          </p:spPr>
        </p:sp>
        <p:sp>
          <p:nvSpPr>
            <p:cNvPr name="TextBox 12" id="12"/>
            <p:cNvSpPr txBox="true"/>
            <p:nvPr/>
          </p:nvSpPr>
          <p:spPr>
            <a:xfrm rot="0">
              <a:off x="0"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HOME</a:t>
              </a:r>
            </a:p>
          </p:txBody>
        </p:sp>
        <p:sp>
          <p:nvSpPr>
            <p:cNvPr name="TextBox 13" id="13"/>
            <p:cNvSpPr txBox="true"/>
            <p:nvPr/>
          </p:nvSpPr>
          <p:spPr>
            <a:xfrm rot="0">
              <a:off x="2872742"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U-NET</a:t>
              </a:r>
            </a:p>
          </p:txBody>
        </p:sp>
        <p:sp>
          <p:nvSpPr>
            <p:cNvPr name="TextBox 14" id="14"/>
            <p:cNvSpPr txBox="true"/>
            <p:nvPr/>
          </p:nvSpPr>
          <p:spPr>
            <a:xfrm rot="0">
              <a:off x="5745484"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DATASET</a:t>
              </a:r>
            </a:p>
          </p:txBody>
        </p:sp>
        <p:sp>
          <p:nvSpPr>
            <p:cNvPr name="TextBox 15" id="15"/>
            <p:cNvSpPr txBox="true"/>
            <p:nvPr/>
          </p:nvSpPr>
          <p:spPr>
            <a:xfrm rot="0">
              <a:off x="8614337"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MODEL</a:t>
              </a:r>
            </a:p>
          </p:txBody>
        </p:sp>
        <p:sp>
          <p:nvSpPr>
            <p:cNvPr name="TextBox 16" id="16"/>
            <p:cNvSpPr txBox="true"/>
            <p:nvPr/>
          </p:nvSpPr>
          <p:spPr>
            <a:xfrm rot="0">
              <a:off x="11483191" y="-47625"/>
              <a:ext cx="1916353" cy="4497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RESULTS</a:t>
              </a:r>
            </a:p>
          </p:txBody>
        </p:sp>
        <p:sp>
          <p:nvSpPr>
            <p:cNvPr name="TextBox 17" id="17"/>
            <p:cNvSpPr txBox="true"/>
            <p:nvPr/>
          </p:nvSpPr>
          <p:spPr>
            <a:xfrm rot="0">
              <a:off x="16941892" y="-47625"/>
              <a:ext cx="2848806" cy="449792"/>
            </a:xfrm>
            <a:prstGeom prst="rect">
              <a:avLst/>
            </a:prstGeom>
          </p:spPr>
          <p:txBody>
            <a:bodyPr anchor="t" rtlCol="false" tIns="0" lIns="0" bIns="0" rIns="0">
              <a:spAutoFit/>
            </a:bodyPr>
            <a:lstStyle/>
            <a:p>
              <a:pPr algn="ctr">
                <a:lnSpc>
                  <a:spcPts val="2800"/>
                </a:lnSpc>
              </a:pPr>
              <a:r>
                <a:rPr lang="en-US" b="true" sz="2000">
                  <a:solidFill>
                    <a:srgbClr val="FFFFFF"/>
                  </a:solidFill>
                  <a:latin typeface="TT Norms Bold"/>
                  <a:ea typeface="TT Norms Bold"/>
                  <a:cs typeface="TT Norms Bold"/>
                  <a:sym typeface="TT Norms Bold"/>
                </a:rPr>
                <a:t>FUTUREWORK</a:t>
              </a:r>
            </a:p>
          </p:txBody>
        </p:sp>
        <p:sp>
          <p:nvSpPr>
            <p:cNvPr name="TextBox 18" id="18"/>
            <p:cNvSpPr txBox="true"/>
            <p:nvPr/>
          </p:nvSpPr>
          <p:spPr>
            <a:xfrm rot="0">
              <a:off x="14352044" y="-47625"/>
              <a:ext cx="1637348" cy="449792"/>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Norms"/>
                  <a:ea typeface="TT Norms"/>
                  <a:cs typeface="TT Norms"/>
                  <a:sym typeface="TT Norms"/>
                </a:rPr>
                <a:t>REMARKS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3800427" y="7181028"/>
            <a:ext cx="6704769" cy="5449148"/>
          </a:xfrm>
          <a:custGeom>
            <a:avLst/>
            <a:gdLst/>
            <a:ahLst/>
            <a:cxnLst/>
            <a:rect r="r" b="b" t="t" l="l"/>
            <a:pathLst>
              <a:path h="5449148" w="6704769">
                <a:moveTo>
                  <a:pt x="0" y="0"/>
                </a:moveTo>
                <a:lnTo>
                  <a:pt x="6704768" y="0"/>
                </a:lnTo>
                <a:lnTo>
                  <a:pt x="6704768" y="5449148"/>
                </a:lnTo>
                <a:lnTo>
                  <a:pt x="0" y="54491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217195" y="-2343176"/>
            <a:ext cx="6704769" cy="5449148"/>
          </a:xfrm>
          <a:custGeom>
            <a:avLst/>
            <a:gdLst/>
            <a:ahLst/>
            <a:cxnLst/>
            <a:rect r="r" b="b" t="t" l="l"/>
            <a:pathLst>
              <a:path h="5449148" w="6704769">
                <a:moveTo>
                  <a:pt x="6704768" y="0"/>
                </a:moveTo>
                <a:lnTo>
                  <a:pt x="0" y="0"/>
                </a:lnTo>
                <a:lnTo>
                  <a:pt x="0" y="5449148"/>
                </a:lnTo>
                <a:lnTo>
                  <a:pt x="6704768" y="5449148"/>
                </a:lnTo>
                <a:lnTo>
                  <a:pt x="670476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086350" y="3908268"/>
            <a:ext cx="12115299" cy="2222815"/>
          </a:xfrm>
          <a:prstGeom prst="rect">
            <a:avLst/>
          </a:prstGeom>
        </p:spPr>
        <p:txBody>
          <a:bodyPr anchor="t" rtlCol="false" tIns="0" lIns="0" bIns="0" rIns="0">
            <a:spAutoFit/>
          </a:bodyPr>
          <a:lstStyle/>
          <a:p>
            <a:pPr algn="ctr">
              <a:lnSpc>
                <a:spcPts val="18182"/>
              </a:lnSpc>
            </a:pPr>
            <a:r>
              <a:rPr lang="en-US" b="true" sz="12987">
                <a:solidFill>
                  <a:srgbClr val="FFFFFF"/>
                </a:solidFill>
                <a:latin typeface="TT Norms Bold"/>
                <a:ea typeface="TT Norms Bold"/>
                <a:cs typeface="TT Norms Bold"/>
                <a:sym typeface="TT Norms Bold"/>
              </a:rPr>
              <a:t>THANK YOU</a:t>
            </a:r>
          </a:p>
        </p:txBody>
      </p:sp>
      <p:grpSp>
        <p:nvGrpSpPr>
          <p:cNvPr name="Group 6" id="6"/>
          <p:cNvGrpSpPr/>
          <p:nvPr/>
        </p:nvGrpSpPr>
        <p:grpSpPr>
          <a:xfrm rot="0">
            <a:off x="0" y="9536329"/>
            <a:ext cx="18288000" cy="1043940"/>
            <a:chOff x="0" y="0"/>
            <a:chExt cx="24384000" cy="1391920"/>
          </a:xfrm>
        </p:grpSpPr>
        <p:sp>
          <p:nvSpPr>
            <p:cNvPr name="TextBox 7" id="7"/>
            <p:cNvSpPr txBox="true"/>
            <p:nvPr/>
          </p:nvSpPr>
          <p:spPr>
            <a:xfrm rot="0">
              <a:off x="0" y="-47625"/>
              <a:ext cx="24384000" cy="919692"/>
            </a:xfrm>
            <a:prstGeom prst="rect">
              <a:avLst/>
            </a:prstGeom>
          </p:spPr>
          <p:txBody>
            <a:bodyPr anchor="t" rtlCol="false" tIns="0" lIns="0" bIns="0" rIns="0">
              <a:spAutoFit/>
            </a:bodyPr>
            <a:lstStyle/>
            <a:p>
              <a:pPr algn="ctr">
                <a:lnSpc>
                  <a:spcPts val="2800"/>
                </a:lnSpc>
              </a:pPr>
              <a:r>
                <a:rPr lang="en-US" sz="2000">
                  <a:solidFill>
                    <a:srgbClr val="FFFFFF"/>
                  </a:solidFill>
                  <a:latin typeface="TT Norms"/>
                  <a:ea typeface="TT Norms"/>
                  <a:cs typeface="TT Norms"/>
                  <a:sym typeface="TT Norms"/>
                </a:rPr>
                <a:t>Nahid Sarwar Ratul  Muhammad Bin Mamun  Ekfat Jahan Ashrafy </a:t>
              </a:r>
            </a:p>
            <a:p>
              <a:pPr algn="ctr">
                <a:lnSpc>
                  <a:spcPts val="2800"/>
                </a:lnSpc>
              </a:pPr>
            </a:p>
          </p:txBody>
        </p:sp>
        <p:sp>
          <p:nvSpPr>
            <p:cNvPr name="TextBox 8" id="8"/>
            <p:cNvSpPr txBox="true"/>
            <p:nvPr/>
          </p:nvSpPr>
          <p:spPr>
            <a:xfrm rot="0">
              <a:off x="0" y="472228"/>
              <a:ext cx="24384000" cy="919692"/>
            </a:xfrm>
            <a:prstGeom prst="rect">
              <a:avLst/>
            </a:prstGeom>
          </p:spPr>
          <p:txBody>
            <a:bodyPr anchor="t" rtlCol="false" tIns="0" lIns="0" bIns="0" rIns="0">
              <a:spAutoFit/>
            </a:bodyPr>
            <a:lstStyle/>
            <a:p>
              <a:pPr algn="l">
                <a:lnSpc>
                  <a:spcPts val="2800"/>
                </a:lnSpc>
              </a:pPr>
              <a:r>
                <a:rPr lang="en-US" sz="2000">
                  <a:solidFill>
                    <a:srgbClr val="FFFFFF"/>
                  </a:solidFill>
                  <a:latin typeface="TT Norms"/>
                  <a:ea typeface="TT Norms"/>
                  <a:cs typeface="TT Norms"/>
                  <a:sym typeface="TT Norms"/>
                </a:rPr>
                <a:t>                                                                                                          2212790042                        2222953042                       2132236642</a:t>
              </a:r>
            </a:p>
            <a:p>
              <a:pPr algn="ctr">
                <a:lnSpc>
                  <a:spcPts val="2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DAGsflqbp6s</dc:identifier>
  <dcterms:modified xsi:type="dcterms:W3CDTF">2011-08-01T06:04:30Z</dcterms:modified>
  <cp:revision>1</cp:revision>
  <dc:title>CSE445_ProjectUpdateOne_G2</dc:title>
</cp:coreProperties>
</file>